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6" r:id="rId3"/>
    <p:sldId id="257" r:id="rId4"/>
    <p:sldId id="258" r:id="rId5"/>
    <p:sldId id="260" r:id="rId6"/>
    <p:sldId id="261" r:id="rId7"/>
    <p:sldId id="262" r:id="rId8"/>
    <p:sldId id="264" r:id="rId9"/>
    <p:sldId id="274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14630400" cy="8229600"/>
  <p:notesSz cx="8229600" cy="14630400"/>
  <p:embeddedFontLst>
    <p:embeddedFont>
      <p:font typeface="Aldhabi" panose="01000000000000000000" pitchFamily="2" charset="-78"/>
      <p:regular r:id="rId19"/>
    </p:embeddedFont>
    <p:embeddedFont>
      <p:font typeface="IBM Plex Sans" panose="020B0503050203000203" pitchFamily="34" charset="0"/>
      <p:regular r:id="rId20"/>
      <p:bold r:id="rId21"/>
      <p:italic r:id="rId22"/>
      <p:boldItalic r:id="rId23"/>
    </p:embeddedFont>
    <p:embeddedFont>
      <p:font typeface="Inconsolata" pitchFamily="1" charset="0"/>
      <p:regular r:id="rId24"/>
    </p:embeddedFont>
    <p:embeddedFont>
      <p:font typeface="Montserrat Black" panose="00000A00000000000000" pitchFamily="2" charset="0"/>
      <p:regular r:id="rId25"/>
      <p:bold r:id="rId26"/>
      <p:boldItalic r:id="rId27"/>
    </p:embeddedFont>
    <p:embeddedFont>
      <p:font typeface="Overpass" panose="020B0604020202020204" charset="0"/>
      <p:regular r:id="rId28"/>
    </p:embeddedFont>
  </p:embeddedFontLst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2519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1EC8C-5E80-851D-4380-DA87D4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59064E-C3F5-4693-005E-DB7412319C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CB74C-7068-E31D-1D39-92EC2A26B8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54221-64AA-C112-EB6A-683A20AF57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1479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722C2-BBEC-2B96-AF7E-DBBA1DA5C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3C43AE-CAA0-6F93-D5A9-4B6389FEA1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54266F-45C5-F086-4E99-037EC85E8B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4EB77C-E214-D166-737F-A38279CAE4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0473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15C27-C57E-77FD-5373-A58A24CA1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8DBAE8-7659-7BD1-CED5-6C7B5C4345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9F3875-245A-30CC-9F27-79B31541BE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3EF99A-AC97-C996-3F08-C1EFF47CDB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899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38.jpe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89" y="2045645"/>
            <a:ext cx="7556421" cy="1945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850"/>
              </a:lnSpc>
            </a:pPr>
            <a:r>
              <a:rPr lang="es-MX" sz="4000" dirty="0">
                <a:latin typeface="Montserrat Black" panose="00000A00000000000000" pitchFamily="2" charset="0"/>
              </a:rPr>
              <a:t>Seguridad Laboral Inteligente con App y Plataforma Web</a:t>
            </a:r>
            <a:endParaRPr lang="en-US" sz="3900" dirty="0">
              <a:latin typeface="Montserrat Black" panose="00000A00000000000000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08269" y="4261903"/>
            <a:ext cx="172638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4000" dirty="0">
                <a:latin typeface="Aldhabi" panose="020F0502020204030204" pitchFamily="2" charset="-78"/>
                <a:cs typeface="Aldhabi" panose="020F0502020204030204" pitchFamily="2" charset="-78"/>
              </a:rPr>
              <a:t>Capstone</a:t>
            </a:r>
          </a:p>
        </p:txBody>
      </p:sp>
      <p:sp>
        <p:nvSpPr>
          <p:cNvPr id="5" name="Shape 2"/>
          <p:cNvSpPr/>
          <p:nvPr/>
        </p:nvSpPr>
        <p:spPr>
          <a:xfrm>
            <a:off x="6280190" y="5471636"/>
            <a:ext cx="317540" cy="317540"/>
          </a:xfrm>
          <a:prstGeom prst="roundRect">
            <a:avLst>
              <a:gd name="adj" fmla="val 28793492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20A0C-147A-7279-5262-4DAB25165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D467E6FD-BC2B-7A00-48AF-EE1390786E58}"/>
              </a:ext>
            </a:extLst>
          </p:cNvPr>
          <p:cNvSpPr/>
          <p:nvPr/>
        </p:nvSpPr>
        <p:spPr>
          <a:xfrm>
            <a:off x="6272213" y="540187"/>
            <a:ext cx="7572375" cy="1227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800"/>
              </a:lnSpc>
            </a:pPr>
            <a:r>
              <a:rPr lang="es-MX" sz="3600" dirty="0">
                <a:latin typeface="Montserrat Black" panose="00000A00000000000000" pitchFamily="2" charset="0"/>
              </a:rPr>
              <a:t>Desafío Actual y Propuesta de Solución</a:t>
            </a:r>
            <a:endParaRPr lang="en-US" sz="3600" dirty="0">
              <a:latin typeface="Montserrat Black" panose="00000A00000000000000" pitchFamily="2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C93F125-F76B-EE78-E8C4-420DBD0865E8}"/>
              </a:ext>
            </a:extLst>
          </p:cNvPr>
          <p:cNvSpPr/>
          <p:nvPr/>
        </p:nvSpPr>
        <p:spPr>
          <a:xfrm>
            <a:off x="6272212" y="1806595"/>
            <a:ext cx="7572375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MX" dirty="0"/>
              <a:t> </a:t>
            </a:r>
            <a:r>
              <a:rPr lang="es-MX" dirty="0">
                <a:latin typeface="Inconsolata" panose="020F0502020204030204" pitchFamily="2" charset="0"/>
                <a:ea typeface="Inconsolata" panose="020F0502020204030204" pitchFamily="2" charset="0"/>
              </a:rPr>
              <a:t>Actualmente, la empresa AVO enfrenta desafíos en la gestión interna del área de </a:t>
            </a:r>
            <a:r>
              <a:rPr lang="es-MX" b="1" dirty="0">
                <a:latin typeface="Inconsolata" panose="020F0502020204030204" pitchFamily="2" charset="0"/>
                <a:ea typeface="Inconsolata" panose="020F0502020204030204" pitchFamily="2" charset="0"/>
              </a:rPr>
              <a:t>Prevención de Riesgos</a:t>
            </a:r>
            <a:r>
              <a:rPr lang="es-MX" dirty="0">
                <a:latin typeface="Inconsolata" panose="020F0502020204030204" pitchFamily="2" charset="0"/>
                <a:ea typeface="Inconsolata" panose="020F0502020204030204" pitchFamily="2" charset="0"/>
              </a:rPr>
              <a:t> debido a la dispersión de sistemas y la falta de una plataforma centralizada.</a:t>
            </a:r>
            <a:endParaRPr lang="es-MX" sz="1600" b="0" dirty="0">
              <a:effectLst/>
              <a:latin typeface="Inconsolata" panose="020F0502020204030204" pitchFamily="2" charset="0"/>
              <a:ea typeface="Inconsolata" panose="020F0502020204030204" pitchFamily="2" charset="0"/>
            </a:endParaRPr>
          </a:p>
          <a:p>
            <a:r>
              <a:rPr lang="es-MX" dirty="0">
                <a:latin typeface="Inconsolata" panose="020F0502020204030204" pitchFamily="2" charset="0"/>
                <a:ea typeface="Inconsolata" panose="020F0502020204030204" pitchFamily="2" charset="0"/>
              </a:rPr>
              <a:t>Para abordar esta situación, proponemos el desarrollo de </a:t>
            </a:r>
            <a:r>
              <a:rPr lang="es-MX" b="1" dirty="0">
                <a:latin typeface="Inconsolata" panose="020F0502020204030204" pitchFamily="2" charset="0"/>
                <a:ea typeface="Inconsolata" panose="020F0502020204030204" pitchFamily="2" charset="0"/>
              </a:rPr>
              <a:t>SAFETRACK</a:t>
            </a:r>
            <a:r>
              <a:rPr lang="es-MX" dirty="0">
                <a:latin typeface="Inconsolata" panose="020F0502020204030204" pitchFamily="2" charset="0"/>
                <a:ea typeface="Inconsolata" panose="020F0502020204030204" pitchFamily="2" charset="0"/>
              </a:rPr>
              <a:t>, una plataforma web diseñada para optimizar los procesos del área de prevención. Esta herramienta permitirá:</a:t>
            </a:r>
            <a:endParaRPr lang="en-US" sz="1500" dirty="0">
              <a:latin typeface="Inconsolata" panose="020F0502020204030204" pitchFamily="2" charset="0"/>
              <a:ea typeface="Inconsolata" panose="020F0502020204030204" pitchFamily="2" charset="0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45426F01-1DDF-5A30-422B-087C31669D24}"/>
              </a:ext>
            </a:extLst>
          </p:cNvPr>
          <p:cNvSpPr/>
          <p:nvPr/>
        </p:nvSpPr>
        <p:spPr>
          <a:xfrm>
            <a:off x="6272213" y="3761898"/>
            <a:ext cx="441960" cy="441960"/>
          </a:xfrm>
          <a:prstGeom prst="roundRect">
            <a:avLst>
              <a:gd name="adj" fmla="val 2069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76AA175-763A-D5FB-3DCC-0751401518D3}"/>
              </a:ext>
            </a:extLst>
          </p:cNvPr>
          <p:cNvSpPr/>
          <p:nvPr/>
        </p:nvSpPr>
        <p:spPr>
          <a:xfrm>
            <a:off x="6345853" y="3798688"/>
            <a:ext cx="294680" cy="368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23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4017126-A756-7033-1B5E-ECD0472A9537}"/>
              </a:ext>
            </a:extLst>
          </p:cNvPr>
          <p:cNvSpPr/>
          <p:nvPr/>
        </p:nvSpPr>
        <p:spPr>
          <a:xfrm>
            <a:off x="6910626" y="3829406"/>
            <a:ext cx="4390430" cy="30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FF8DF0C3-087F-ED2B-C202-3C3780A71375}"/>
              </a:ext>
            </a:extLst>
          </p:cNvPr>
          <p:cNvSpPr/>
          <p:nvPr/>
        </p:nvSpPr>
        <p:spPr>
          <a:xfrm>
            <a:off x="6272213" y="5275777"/>
            <a:ext cx="441960" cy="441960"/>
          </a:xfrm>
          <a:prstGeom prst="roundRect">
            <a:avLst>
              <a:gd name="adj" fmla="val 2069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3A2B96B3-A488-81FF-397D-3993E0113A0D}"/>
              </a:ext>
            </a:extLst>
          </p:cNvPr>
          <p:cNvSpPr/>
          <p:nvPr/>
        </p:nvSpPr>
        <p:spPr>
          <a:xfrm>
            <a:off x="6345853" y="5312568"/>
            <a:ext cx="294680" cy="368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23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AC12F90B-81F6-6FC5-D680-F6E00045707A}"/>
              </a:ext>
            </a:extLst>
          </p:cNvPr>
          <p:cNvSpPr/>
          <p:nvPr/>
        </p:nvSpPr>
        <p:spPr>
          <a:xfrm>
            <a:off x="6272213" y="6789657"/>
            <a:ext cx="441960" cy="441960"/>
          </a:xfrm>
          <a:prstGeom prst="roundRect">
            <a:avLst>
              <a:gd name="adj" fmla="val 2069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4F9C35E7-7DC4-1974-6B10-4518930734FF}"/>
              </a:ext>
            </a:extLst>
          </p:cNvPr>
          <p:cNvSpPr/>
          <p:nvPr/>
        </p:nvSpPr>
        <p:spPr>
          <a:xfrm>
            <a:off x="6345853" y="6826447"/>
            <a:ext cx="294680" cy="368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</a:t>
            </a:r>
            <a:endParaRPr lang="en-US" sz="2300" dirty="0"/>
          </a:p>
        </p:txBody>
      </p:sp>
      <p:pic>
        <p:nvPicPr>
          <p:cNvPr id="18" name="Imagen 17" descr="Calle de ciudad con luces encendidas&#10;&#10;El contenido generado por IA puede ser incorrecto.">
            <a:extLst>
              <a:ext uri="{FF2B5EF4-FFF2-40B4-BE49-F238E27FC236}">
                <a16:creationId xmlns:a16="http://schemas.microsoft.com/office/drawing/2014/main" id="{B5563E6A-2A5E-96F4-3ACB-3389B9BAD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181" y="0"/>
            <a:ext cx="4205346" cy="8229600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16497503-36A2-D877-081A-74F6D91C13C1}"/>
              </a:ext>
            </a:extLst>
          </p:cNvPr>
          <p:cNvSpPr txBox="1"/>
          <p:nvPr/>
        </p:nvSpPr>
        <p:spPr>
          <a:xfrm>
            <a:off x="6910626" y="3778507"/>
            <a:ext cx="73152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900" b="1" dirty="0">
                <a:solidFill>
                  <a:srgbClr val="151617"/>
                </a:solidFill>
                <a:latin typeface="Montserrat Black" pitchFamily="34" charset="0"/>
              </a:rPr>
              <a:t>Contar con una lista de tareas asignadas por roles, facilitando la planificación y seguimiento.</a:t>
            </a:r>
            <a:endParaRPr lang="es-CL" sz="1900" b="1" dirty="0">
              <a:solidFill>
                <a:srgbClr val="151617"/>
              </a:solidFill>
              <a:latin typeface="Montserrat Black" pitchFamily="34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CE90D455-9C87-AA58-C9CF-9BF919AE8AD0}"/>
              </a:ext>
            </a:extLst>
          </p:cNvPr>
          <p:cNvSpPr txBox="1"/>
          <p:nvPr/>
        </p:nvSpPr>
        <p:spPr>
          <a:xfrm>
            <a:off x="6787813" y="5228242"/>
            <a:ext cx="73152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1200"/>
              </a:spcBef>
              <a:spcAft>
                <a:spcPts val="1200"/>
              </a:spcAft>
            </a:pPr>
            <a:r>
              <a:rPr lang="es-MX" sz="1900" b="1" dirty="0">
                <a:solidFill>
                  <a:srgbClr val="151617"/>
                </a:solidFill>
                <a:latin typeface="Montserrat Black" pitchFamily="34" charset="0"/>
              </a:rPr>
              <a:t>Implementar un sistema de gestión documental centralizado por trabajador y proyecto.</a:t>
            </a:r>
            <a:br>
              <a:rPr lang="es-MX" sz="1800" b="0" i="0" u="none" strike="noStrike" dirty="0">
                <a:solidFill>
                  <a:srgbClr val="FFFFFF"/>
                </a:solidFill>
                <a:effectLst/>
                <a:latin typeface="IBM Plex Sans" panose="020B0503050203000203" pitchFamily="34" charset="0"/>
              </a:rPr>
            </a:br>
            <a:br>
              <a:rPr lang="es-MX" sz="1800" b="0" i="0" u="none" strike="noStrike" dirty="0">
                <a:solidFill>
                  <a:srgbClr val="FFFFFF"/>
                </a:solidFill>
                <a:effectLst/>
                <a:latin typeface="IBM Plex Sans" panose="020B0503050203000203" pitchFamily="34" charset="0"/>
              </a:rPr>
            </a:br>
            <a:endParaRPr lang="es-MX" sz="1800" b="0" i="0" u="none" strike="noStrike" dirty="0"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67D0A589-E38A-F2DE-A59B-AB8257E17A3F}"/>
              </a:ext>
            </a:extLst>
          </p:cNvPr>
          <p:cNvSpPr txBox="1"/>
          <p:nvPr/>
        </p:nvSpPr>
        <p:spPr>
          <a:xfrm>
            <a:off x="6910626" y="6627911"/>
            <a:ext cx="7315200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900" b="1" dirty="0">
                <a:solidFill>
                  <a:srgbClr val="151617"/>
                </a:solidFill>
                <a:latin typeface="Montserrat Black" pitchFamily="34" charset="0"/>
              </a:rPr>
              <a:t>Recibir avisos automáticos sobre documentos por vencer o vencidos, mejorando la toma de decisiones y el cumplimiento normativo.</a:t>
            </a:r>
            <a:endParaRPr lang="es-CL" sz="1900" b="1" dirty="0">
              <a:solidFill>
                <a:srgbClr val="151617"/>
              </a:solidFill>
              <a:latin typeface="Montserrat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640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8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2213" y="540187"/>
            <a:ext cx="7572375" cy="1227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Visión General de la </a:t>
            </a:r>
            <a:r>
              <a:rPr lang="en-US" sz="3850" b="1" dirty="0" err="1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Arquitectura</a:t>
            </a:r>
            <a:r>
              <a:rPr lang="en-US" sz="3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 de la web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272213" y="2062639"/>
            <a:ext cx="7572375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SafeTrack adopta una arquitectura de tres capas para optimizar la modularidad, escalabilidad y mantenimiento. Esta estructura divide el sistema en componentes distintos, cada uno con responsabilidades específicas, asegurando un diseño robusto y eficiente.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272213" y="3540919"/>
            <a:ext cx="441960" cy="441960"/>
          </a:xfrm>
          <a:prstGeom prst="roundRect">
            <a:avLst>
              <a:gd name="adj" fmla="val 2069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6345853" y="3577709"/>
            <a:ext cx="294680" cy="368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6910626" y="3608427"/>
            <a:ext cx="4390430" cy="30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Capa de Presentación (Frontend)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910626" y="4033242"/>
            <a:ext cx="6933962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Interfaz de usuario accesible desde navegadores web, facilitando la interacción directa con el sistema.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72213" y="5054798"/>
            <a:ext cx="441960" cy="441960"/>
          </a:xfrm>
          <a:prstGeom prst="roundRect">
            <a:avLst>
              <a:gd name="adj" fmla="val 2069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6345853" y="5091589"/>
            <a:ext cx="294680" cy="368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6910626" y="5122307"/>
            <a:ext cx="5036106" cy="30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Capa de Lógica de Negocio (Backend)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910626" y="5547122"/>
            <a:ext cx="6933962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Procesamiento de reglas de negocio y conexión con la base de datos, gestionando la funcionalidad central.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272213" y="6568678"/>
            <a:ext cx="441960" cy="441960"/>
          </a:xfrm>
          <a:prstGeom prst="roundRect">
            <a:avLst>
              <a:gd name="adj" fmla="val 2069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4" name="Text 11"/>
          <p:cNvSpPr/>
          <p:nvPr/>
        </p:nvSpPr>
        <p:spPr>
          <a:xfrm>
            <a:off x="6345853" y="6605468"/>
            <a:ext cx="294680" cy="368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6910626" y="6636187"/>
            <a:ext cx="3428762" cy="30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Capa de Datos (Database)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6910626" y="7061002"/>
            <a:ext cx="6933962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Almacenamiento de información estructurada, garantizando la persistencia y organización de los datos.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1789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7230" y="2658308"/>
            <a:ext cx="9890284" cy="544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Tecnologías Clave </a:t>
            </a:r>
            <a:r>
              <a:rPr lang="en-US" sz="3400" b="1" dirty="0" err="1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Utilizadas</a:t>
            </a:r>
            <a:r>
              <a:rPr lang="en-US" sz="3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 </a:t>
            </a:r>
            <a:r>
              <a:rPr lang="en-US" sz="3400" b="1" dirty="0" err="1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en</a:t>
            </a:r>
            <a:r>
              <a:rPr lang="en-US" sz="3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 la Web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97230" y="3464481"/>
            <a:ext cx="13235940" cy="557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SafeTrack integra diversas tecnologías modernas para asegurar un rendimiento óptimo y una gestión eficiente de la prevención de riesgos. Cada herramienta ha sido seleccionada por su capacidad para fortalecer una parte específica de la arquitectura del sistema.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697230" y="4218265"/>
            <a:ext cx="13235940" cy="3537347"/>
          </a:xfrm>
          <a:prstGeom prst="roundRect">
            <a:avLst>
              <a:gd name="adj" fmla="val 25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3"/>
          <p:cNvSpPr/>
          <p:nvPr/>
        </p:nvSpPr>
        <p:spPr>
          <a:xfrm>
            <a:off x="704850" y="4225885"/>
            <a:ext cx="13220700" cy="50315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/>
          <p:nvPr/>
        </p:nvSpPr>
        <p:spPr>
          <a:xfrm>
            <a:off x="879158" y="4338042"/>
            <a:ext cx="6257925" cy="278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Frontend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493318" y="4338042"/>
            <a:ext cx="6257925" cy="278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Vue.js (Frameworks de JavaScript)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04850" y="4729043"/>
            <a:ext cx="13220700" cy="50315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879158" y="4841200"/>
            <a:ext cx="6257925" cy="278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Backend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493318" y="4841200"/>
            <a:ext cx="6257925" cy="278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Php, Javascript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04850" y="5232202"/>
            <a:ext cx="13220700" cy="50315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0"/>
          <p:cNvSpPr/>
          <p:nvPr/>
        </p:nvSpPr>
        <p:spPr>
          <a:xfrm>
            <a:off x="879158" y="5344358"/>
            <a:ext cx="6257925" cy="278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Base de Datos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493318" y="5344358"/>
            <a:ext cx="6257925" cy="278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MySQL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704850" y="5735360"/>
            <a:ext cx="13220700" cy="50315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3"/>
          <p:cNvSpPr/>
          <p:nvPr/>
        </p:nvSpPr>
        <p:spPr>
          <a:xfrm>
            <a:off x="879158" y="5847517"/>
            <a:ext cx="6257925" cy="278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Autenticación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493318" y="5847517"/>
            <a:ext cx="6257925" cy="278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JWT (JSON Web Token) / OAuth 2.0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704850" y="6238518"/>
            <a:ext cx="13220700" cy="50315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Text 16"/>
          <p:cNvSpPr/>
          <p:nvPr/>
        </p:nvSpPr>
        <p:spPr>
          <a:xfrm>
            <a:off x="879158" y="6350675"/>
            <a:ext cx="6257925" cy="278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Despliegue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7493318" y="6350675"/>
            <a:ext cx="6257925" cy="278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Docker (opcional)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704850" y="6741676"/>
            <a:ext cx="13220700" cy="50315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19"/>
          <p:cNvSpPr/>
          <p:nvPr/>
        </p:nvSpPr>
        <p:spPr>
          <a:xfrm>
            <a:off x="879158" y="6853833"/>
            <a:ext cx="6257925" cy="278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Control de Versiones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7493318" y="6853833"/>
            <a:ext cx="6257925" cy="278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Git y GitHub/GitLab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704850" y="7244834"/>
            <a:ext cx="13220700" cy="50315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Text 22"/>
          <p:cNvSpPr/>
          <p:nvPr/>
        </p:nvSpPr>
        <p:spPr>
          <a:xfrm>
            <a:off x="879158" y="7356991"/>
            <a:ext cx="6257925" cy="278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Gestión de Proyectos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7493318" y="7356991"/>
            <a:ext cx="6257925" cy="278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Jira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8422" y="502325"/>
            <a:ext cx="7727156" cy="1106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Capa de Aplicación (Backend) y Autenticación</a:t>
            </a:r>
            <a:endParaRPr lang="en-US" sz="3450" dirty="0"/>
          </a:p>
        </p:txBody>
      </p:sp>
      <p:sp>
        <p:nvSpPr>
          <p:cNvPr id="4" name="Text 1"/>
          <p:cNvSpPr/>
          <p:nvPr/>
        </p:nvSpPr>
        <p:spPr>
          <a:xfrm>
            <a:off x="708422" y="1874758"/>
            <a:ext cx="7727156" cy="1133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El backend de SafeTrack, desarrollado en PHP, es el cerebro del sistema. Gestiona la lógica de negocio, procesa solicitudes del frontend, verifica permisos y realiza operaciones en la base de datos. La autenticación se maneja con JWT, asegurando la identidad y permisos del usuario en cada solicitud.</a:t>
            </a:r>
            <a:endParaRPr lang="en-US" sz="13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422" y="3207425"/>
            <a:ext cx="442674" cy="44267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8422" y="3871436"/>
            <a:ext cx="2213729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PHP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708422" y="4254222"/>
            <a:ext cx="2428161" cy="1133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Gestiona la lógica de negocio, procesa solicitudes y verifica permisos.</a:t>
            </a:r>
            <a:endParaRPr lang="en-US" sz="13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7920" y="3207425"/>
            <a:ext cx="442674" cy="44267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357920" y="3871436"/>
            <a:ext cx="2213729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JWT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3357920" y="4254222"/>
            <a:ext cx="2428161" cy="85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Autenticación y autorización de usuarios mediante tokens seguros.</a:t>
            </a:r>
            <a:endParaRPr lang="en-US" sz="13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7418" y="3207425"/>
            <a:ext cx="442674" cy="44267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007418" y="3871436"/>
            <a:ext cx="2213729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API REST</a:t>
            </a:r>
            <a:endParaRPr lang="en-US" sz="1700" dirty="0"/>
          </a:p>
        </p:txBody>
      </p:sp>
      <p:sp>
        <p:nvSpPr>
          <p:cNvPr id="13" name="Text 7"/>
          <p:cNvSpPr/>
          <p:nvPr/>
        </p:nvSpPr>
        <p:spPr>
          <a:xfrm>
            <a:off x="6007418" y="4254222"/>
            <a:ext cx="2428161" cy="85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Permite la interacción con los módulos del sistema a través de endpoints.</a:t>
            </a:r>
            <a:endParaRPr lang="en-US" sz="1350" dirty="0"/>
          </a:p>
        </p:txBody>
      </p:sp>
      <p:sp>
        <p:nvSpPr>
          <p:cNvPr id="16" name="Text 9"/>
          <p:cNvSpPr/>
          <p:nvPr/>
        </p:nvSpPr>
        <p:spPr>
          <a:xfrm>
            <a:off x="708422" y="6877169"/>
            <a:ext cx="2428161" cy="85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31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84582" y="479941"/>
            <a:ext cx="7747635" cy="1090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Modelo de Base de Datos Relacional de SafeTrack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184582" y="1832610"/>
            <a:ext cx="7747635" cy="111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SafeTrack utiliza un modelo de base de datos relacional MySQL, diseñado para estructurar y vincular eficientemente la información. Las tablas están interconectadas mediante claves primarias y foráneas, garantizando la integridad referencial y facilitando la trazabilidad de los datos.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6184582" y="3145750"/>
            <a:ext cx="7747635" cy="1020961"/>
          </a:xfrm>
          <a:prstGeom prst="roundRect">
            <a:avLst>
              <a:gd name="adj" fmla="val 896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6366748" y="3327916"/>
            <a:ext cx="2182058" cy="272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usuarios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366748" y="3705344"/>
            <a:ext cx="7383304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Datos de login, rol y perfil del usuario (prevencionista, jefatura, admin).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84582" y="4341257"/>
            <a:ext cx="7747635" cy="1020961"/>
          </a:xfrm>
          <a:prstGeom prst="roundRect">
            <a:avLst>
              <a:gd name="adj" fmla="val 896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6366748" y="4523423"/>
            <a:ext cx="2182058" cy="272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trabajadores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366748" y="4900851"/>
            <a:ext cx="7383304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Información de trabajadores por proyecto.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184582" y="5536763"/>
            <a:ext cx="7747635" cy="1020961"/>
          </a:xfrm>
          <a:prstGeom prst="roundRect">
            <a:avLst>
              <a:gd name="adj" fmla="val 896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6366748" y="5718929"/>
            <a:ext cx="2182058" cy="272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proyectos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366748" y="6096357"/>
            <a:ext cx="7383304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Detalles de obras o zonas de trabajo.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184582" y="6732270"/>
            <a:ext cx="7747635" cy="1020961"/>
          </a:xfrm>
          <a:prstGeom prst="roundRect">
            <a:avLst>
              <a:gd name="adj" fmla="val 896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/>
          <p:nvPr/>
        </p:nvSpPr>
        <p:spPr>
          <a:xfrm>
            <a:off x="6366748" y="6914436"/>
            <a:ext cx="2182058" cy="272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documentos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366748" y="7291864"/>
            <a:ext cx="7383304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Archivos asociados a cada trabajador (exámenes, certificados).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2115" y="504468"/>
            <a:ext cx="10076378" cy="572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Flujo General de la Plataforma SafeTrack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2115" y="1442561"/>
            <a:ext cx="13166169" cy="585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El flujo de SafeTrack es un proceso secuencial que garantiza una interacción fluida y segura desde el acceso del usuario hasta la visualización de los datos. Cada paso está diseñado para optimizar la experiencia y la seguridad.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115" y="2233970"/>
            <a:ext cx="915233" cy="10982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30348" y="2416969"/>
            <a:ext cx="2366605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Acceso del Usuario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830348" y="2812733"/>
            <a:ext cx="12067937" cy="292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El usuario accede a SafeTrack desde su navegador web.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115" y="3332202"/>
            <a:ext cx="915233" cy="10982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30348" y="3515201"/>
            <a:ext cx="3614261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Inicio de Sesión y Token JWT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1830348" y="3910965"/>
            <a:ext cx="12067937" cy="292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Tras iniciar sesión, el usuario recibe un token JWT para solicitudes seguras.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115" y="4430435"/>
            <a:ext cx="915233" cy="10982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830348" y="4613434"/>
            <a:ext cx="3889653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Solicitudes Seguras al Backend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1830348" y="5009198"/>
            <a:ext cx="12067937" cy="292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El frontend utiliza el token para realizar solicitudes protegidas al backend.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115" y="5528667"/>
            <a:ext cx="915233" cy="10982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830348" y="5711666"/>
            <a:ext cx="4056578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Procesamiento y Acceso a Datos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1830348" y="6107430"/>
            <a:ext cx="12067937" cy="292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El backend procesa las solicitudes y accede a la base de datos si es necesario.</a:t>
            </a:r>
            <a:endParaRPr lang="en-US" sz="14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115" y="6626900"/>
            <a:ext cx="915233" cy="10982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830348" y="6809899"/>
            <a:ext cx="3610570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Visualización de Información</a:t>
            </a:r>
            <a:endParaRPr lang="en-US" sz="1800" dirty="0"/>
          </a:p>
        </p:txBody>
      </p:sp>
      <p:sp>
        <p:nvSpPr>
          <p:cNvPr id="18" name="Text 11"/>
          <p:cNvSpPr/>
          <p:nvPr/>
        </p:nvSpPr>
        <p:spPr>
          <a:xfrm>
            <a:off x="1830348" y="7205663"/>
            <a:ext cx="12067937" cy="292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La interfaz muestra los datos relevantes al usuario final.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5925"/>
            <a:ext cx="1269908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 err="1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Arquitectura</a:t>
            </a:r>
            <a:r>
              <a:rPr lang="en-US" sz="3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 Robusta de SafeTrack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752838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La arquitectura de SafeTrack, basada en un modelo de tres capas, ofrece una gestión eficiente, escalable y segura para la prevención de riesgos. Cada capa cumple funciones específicas, utilizando tecnologías modernas para una experiencia fluida y protegida.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73348" y="3463290"/>
            <a:ext cx="366164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Arquitectura de Tres Capas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93790" y="3892510"/>
            <a:ext cx="394120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Modularidad y eficiencia en la gestión de riesgos.</a:t>
            </a:r>
            <a:endParaRPr lang="en-US" sz="15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928699"/>
            <a:ext cx="4564975" cy="456497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4626" y="3878163"/>
            <a:ext cx="296942" cy="3711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895284" y="3058120"/>
            <a:ext cx="30143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Tecnologías Modernas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9895284" y="3487341"/>
            <a:ext cx="394132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JavaScript, PHP, API REST y JWT para una experiencia fluida.</a:t>
            </a:r>
            <a:endParaRPr lang="en-US" sz="1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928699"/>
            <a:ext cx="4564975" cy="4564975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4144" y="3613487"/>
            <a:ext cx="296942" cy="37111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994463" y="4678918"/>
            <a:ext cx="339768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Base de Datos Relacional</a:t>
            </a:r>
            <a:endParaRPr lang="en-US" sz="1950" dirty="0"/>
          </a:p>
        </p:txBody>
      </p:sp>
      <p:sp>
        <p:nvSpPr>
          <p:cNvPr id="13" name="Text 7"/>
          <p:cNvSpPr/>
          <p:nvPr/>
        </p:nvSpPr>
        <p:spPr>
          <a:xfrm>
            <a:off x="9994463" y="5108138"/>
            <a:ext cx="384214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MySQL para información estructurada y trazabilidad.</a:t>
            </a:r>
            <a:endParaRPr lang="en-US" sz="15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928699"/>
            <a:ext cx="4564975" cy="4564975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40557" y="5300246"/>
            <a:ext cx="296942" cy="37111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895284" y="6299835"/>
            <a:ext cx="282142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Seguridad Reforzada</a:t>
            </a:r>
            <a:endParaRPr lang="en-US" sz="1950" dirty="0"/>
          </a:p>
        </p:txBody>
      </p:sp>
      <p:sp>
        <p:nvSpPr>
          <p:cNvPr id="17" name="Text 9"/>
          <p:cNvSpPr/>
          <p:nvPr/>
        </p:nvSpPr>
        <p:spPr>
          <a:xfrm>
            <a:off x="9895284" y="6729055"/>
            <a:ext cx="394132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HTTPS, cifrado de contraseñas y control de acceso por roles.</a:t>
            </a:r>
            <a:endParaRPr lang="en-US" sz="15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928699"/>
            <a:ext cx="4564975" cy="4564975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91698" y="6607314"/>
            <a:ext cx="296942" cy="371118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1340287" y="5894546"/>
            <a:ext cx="339471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Escalabilidad con Docker</a:t>
            </a:r>
            <a:endParaRPr lang="en-US" sz="1950" dirty="0"/>
          </a:p>
        </p:txBody>
      </p:sp>
      <p:sp>
        <p:nvSpPr>
          <p:cNvPr id="21" name="Text 11"/>
          <p:cNvSpPr/>
          <p:nvPr/>
        </p:nvSpPr>
        <p:spPr>
          <a:xfrm>
            <a:off x="793790" y="6323767"/>
            <a:ext cx="394120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Facilita el despliegue y la portabilidad del sistema.</a:t>
            </a:r>
            <a:endParaRPr lang="en-US" sz="155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32653" y="2928699"/>
            <a:ext cx="4564975" cy="4564975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5731728" y="5728514"/>
            <a:ext cx="296942" cy="371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5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1C8B5-DAA1-D442-4CBE-11E53F352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C0920D2-1BB3-5A6E-CC3A-2DBF1BEA8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9508" y="875848"/>
            <a:ext cx="10631384" cy="647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988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3" y="1475303"/>
            <a:ext cx="7468553" cy="1231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 err="1">
                <a:solidFill>
                  <a:srgbClr val="151617"/>
                </a:solidFill>
                <a:latin typeface="Montserrat Black" pitchFamily="34" charset="0"/>
              </a:rPr>
              <a:t>Aplicacion</a:t>
            </a:r>
            <a:r>
              <a:rPr lang="en-US" sz="3900" b="1" dirty="0">
                <a:solidFill>
                  <a:srgbClr val="151617"/>
                </a:solidFill>
                <a:latin typeface="Montserrat Black" pitchFamily="34" charset="0"/>
              </a:rPr>
              <a:t>: Innovación </a:t>
            </a:r>
            <a:r>
              <a:rPr lang="en-US" sz="3900" b="1" dirty="0" err="1">
                <a:solidFill>
                  <a:srgbClr val="151617"/>
                </a:solidFill>
                <a:latin typeface="Montserrat Black" pitchFamily="34" charset="0"/>
              </a:rPr>
              <a:t>en</a:t>
            </a:r>
            <a:r>
              <a:rPr lang="en-US" sz="3900" b="1" dirty="0">
                <a:solidFill>
                  <a:srgbClr val="151617"/>
                </a:solidFill>
                <a:latin typeface="Montserrat Black" pitchFamily="34" charset="0"/>
              </a:rPr>
              <a:t> </a:t>
            </a:r>
            <a:r>
              <a:rPr lang="en-US" sz="3900" b="1" dirty="0" err="1">
                <a:solidFill>
                  <a:srgbClr val="151617"/>
                </a:solidFill>
                <a:latin typeface="Montserrat Black" pitchFamily="34" charset="0"/>
              </a:rPr>
              <a:t>Seguridad</a:t>
            </a:r>
            <a:r>
              <a:rPr lang="en-US" sz="3900" b="1" dirty="0">
                <a:solidFill>
                  <a:srgbClr val="151617"/>
                </a:solidFill>
                <a:latin typeface="Montserrat Black" pitchFamily="34" charset="0"/>
              </a:rPr>
              <a:t> Laboral</a:t>
            </a:r>
          </a:p>
        </p:txBody>
      </p:sp>
      <p:sp>
        <p:nvSpPr>
          <p:cNvPr id="4" name="Text 1"/>
          <p:cNvSpPr/>
          <p:nvPr/>
        </p:nvSpPr>
        <p:spPr>
          <a:xfrm>
            <a:off x="837723" y="3718320"/>
            <a:ext cx="7468553" cy="2522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00"/>
              </a:lnSpc>
            </a:pPr>
            <a:r>
              <a:rPr lang="en-US" sz="1600" dirty="0">
                <a:latin typeface="Inconsolata" pitchFamily="1" charset="0"/>
                <a:ea typeface="Inconsolata" pitchFamily="1" charset="0"/>
                <a:cs typeface="Overpass" pitchFamily="34" charset="-120"/>
              </a:rPr>
              <a:t>PVD </a:t>
            </a:r>
            <a:r>
              <a:rPr lang="es-MX" sz="1600" b="1" dirty="0">
                <a:latin typeface="Inconsolata" pitchFamily="1" charset="0"/>
                <a:ea typeface="Inconsolata" pitchFamily="1" charset="0"/>
              </a:rPr>
              <a:t>es una solución móvil innovadora para la prevención de riesgos laborales.</a:t>
            </a:r>
            <a:br>
              <a:rPr lang="es-MX" sz="1600" dirty="0">
                <a:latin typeface="Inconsolata" pitchFamily="1" charset="0"/>
                <a:ea typeface="Inconsolata" pitchFamily="1" charset="0"/>
              </a:rPr>
            </a:br>
            <a:r>
              <a:rPr lang="es-MX" sz="1600" dirty="0">
                <a:latin typeface="Inconsolata" pitchFamily="1" charset="0"/>
                <a:ea typeface="Inconsolata" pitchFamily="1" charset="0"/>
              </a:rPr>
              <a:t>Permite a los trabajadores realizar </a:t>
            </a:r>
            <a:r>
              <a:rPr lang="es-MX" sz="1600" dirty="0" err="1">
                <a:latin typeface="Inconsolata" pitchFamily="1" charset="0"/>
                <a:ea typeface="Inconsolata" pitchFamily="1" charset="0"/>
              </a:rPr>
              <a:t>checklists</a:t>
            </a:r>
            <a:r>
              <a:rPr lang="es-MX" sz="1600" dirty="0">
                <a:latin typeface="Inconsolata" pitchFamily="1" charset="0"/>
                <a:ea typeface="Inconsolata" pitchFamily="1" charset="0"/>
              </a:rPr>
              <a:t> de condiciones de trabajo, generando automáticamente un documento con el resultado de la evaluación. Según este resultado, la app indica si es necesario aplicar medidas preventivas y entrega recomendaciones específicas para mejorar la seguridad.</a:t>
            </a:r>
            <a:endParaRPr lang="en-US" sz="1600" dirty="0">
              <a:latin typeface="Inconsolata" pitchFamily="1" charset="0"/>
              <a:ea typeface="Inconsolata" pitchFamily="1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18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4049554"/>
            <a:ext cx="7206972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 err="1">
                <a:solidFill>
                  <a:srgbClr val="151617"/>
                </a:solidFill>
                <a:latin typeface="Montserrat Black" pitchFamily="34" charset="0"/>
              </a:rPr>
              <a:t>Propósito</a:t>
            </a:r>
            <a:r>
              <a:rPr lang="en-US" sz="38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 </a:t>
            </a:r>
            <a:r>
              <a:rPr lang="en-US" sz="3900" b="1" dirty="0">
                <a:solidFill>
                  <a:srgbClr val="151617"/>
                </a:solidFill>
                <a:latin typeface="Montserrat Black" pitchFamily="34" charset="0"/>
              </a:rPr>
              <a:t>y Visión de la App</a:t>
            </a:r>
          </a:p>
        </p:txBody>
      </p:sp>
      <p:sp>
        <p:nvSpPr>
          <p:cNvPr id="4" name="Shape 1"/>
          <p:cNvSpPr/>
          <p:nvPr/>
        </p:nvSpPr>
        <p:spPr>
          <a:xfrm>
            <a:off x="837724" y="4979551"/>
            <a:ext cx="471249" cy="471249"/>
          </a:xfrm>
          <a:prstGeom prst="roundRect">
            <a:avLst>
              <a:gd name="adj" fmla="val 18668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532" y="5030391"/>
            <a:ext cx="295632" cy="36957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18404" y="5091946"/>
            <a:ext cx="2588300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51617"/>
                </a:solidFill>
                <a:latin typeface="Montserrat Black" pitchFamily="34" charset="0"/>
              </a:rPr>
              <a:t>Prevención de </a:t>
            </a:r>
            <a:r>
              <a:rPr lang="en-US" sz="1900" b="1" dirty="0" err="1">
                <a:solidFill>
                  <a:srgbClr val="151617"/>
                </a:solidFill>
                <a:latin typeface="Montserrat Black" pitchFamily="34" charset="0"/>
              </a:rPr>
              <a:t>Riesgos</a:t>
            </a:r>
            <a:endParaRPr lang="en-US" sz="1900" b="1" dirty="0">
              <a:solidFill>
                <a:srgbClr val="151617"/>
              </a:solidFill>
              <a:latin typeface="Montserrat Black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1518404" y="5485090"/>
            <a:ext cx="3463052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latin typeface="Inconsolata" pitchFamily="1" charset="0"/>
                <a:ea typeface="Inconsolata" pitchFamily="1" charset="0"/>
                <a:cs typeface="Overpass" pitchFamily="34" charset="-120"/>
              </a:rPr>
              <a:t>Identificación y reporte proactivo de situaciones peligrosas para evitar accidentes.</a:t>
            </a:r>
            <a:endParaRPr lang="en-US" sz="1600" dirty="0">
              <a:latin typeface="Inconsolata" pitchFamily="1" charset="0"/>
              <a:ea typeface="Inconsolata" pitchFamily="1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5243274" y="4979551"/>
            <a:ext cx="471249" cy="471249"/>
          </a:xfrm>
          <a:prstGeom prst="roundRect">
            <a:avLst>
              <a:gd name="adj" fmla="val 18668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1083" y="5030391"/>
            <a:ext cx="295632" cy="36957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23955" y="5051465"/>
            <a:ext cx="3463052" cy="616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 err="1">
                <a:solidFill>
                  <a:srgbClr val="151617"/>
                </a:solidFill>
                <a:latin typeface="Montserrat Black" pitchFamily="34" charset="0"/>
              </a:rPr>
              <a:t>Comunicación</a:t>
            </a:r>
            <a:r>
              <a:rPr lang="en-US" sz="1900" b="1" dirty="0">
                <a:solidFill>
                  <a:srgbClr val="151617"/>
                </a:solidFill>
                <a:latin typeface="Montserrat Black" pitchFamily="34" charset="0"/>
              </a:rPr>
              <a:t> </a:t>
            </a:r>
            <a:r>
              <a:rPr lang="en-US" sz="1900" b="1" dirty="0" err="1">
                <a:solidFill>
                  <a:srgbClr val="151617"/>
                </a:solidFill>
                <a:latin typeface="Montserrat Black" pitchFamily="34" charset="0"/>
              </a:rPr>
              <a:t>en</a:t>
            </a:r>
            <a:r>
              <a:rPr lang="en-US" sz="1900" b="1" dirty="0">
                <a:solidFill>
                  <a:srgbClr val="151617"/>
                </a:solidFill>
                <a:latin typeface="Montserrat Black" pitchFamily="34" charset="0"/>
              </a:rPr>
              <a:t> Tiempo Real</a:t>
            </a:r>
          </a:p>
        </p:txBody>
      </p:sp>
      <p:sp>
        <p:nvSpPr>
          <p:cNvPr id="11" name="Text 6"/>
          <p:cNvSpPr/>
          <p:nvPr/>
        </p:nvSpPr>
        <p:spPr>
          <a:xfrm>
            <a:off x="5923955" y="5793105"/>
            <a:ext cx="3463052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latin typeface="Inconsolata" pitchFamily="1" charset="0"/>
                <a:ea typeface="Inconsolata" pitchFamily="1" charset="0"/>
                <a:cs typeface="Overpass" pitchFamily="34" charset="-120"/>
              </a:rPr>
              <a:t>Facilita el flujo de información entre empleados y supervisor.</a:t>
            </a:r>
            <a:endParaRPr lang="en-US" sz="1600" dirty="0">
              <a:latin typeface="Inconsolata" pitchFamily="1" charset="0"/>
              <a:ea typeface="Inconsolata" pitchFamily="1" charset="0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9648825" y="4979551"/>
            <a:ext cx="471249" cy="471249"/>
          </a:xfrm>
          <a:prstGeom prst="roundRect">
            <a:avLst>
              <a:gd name="adj" fmla="val 18668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6634" y="5030391"/>
            <a:ext cx="295632" cy="3695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329505" y="5051465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 err="1">
                <a:solidFill>
                  <a:srgbClr val="151617"/>
                </a:solidFill>
                <a:latin typeface="Montserrat Black" pitchFamily="34" charset="0"/>
              </a:rPr>
              <a:t>Gestión</a:t>
            </a:r>
            <a:r>
              <a:rPr lang="en-US" sz="19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 </a:t>
            </a:r>
            <a:r>
              <a:rPr lang="en-US" sz="1900" b="1" dirty="0" err="1">
                <a:solidFill>
                  <a:srgbClr val="151617"/>
                </a:solidFill>
                <a:latin typeface="Montserrat Black" pitchFamily="34" charset="0"/>
              </a:rPr>
              <a:t>Eficiente</a:t>
            </a:r>
            <a:endParaRPr lang="en-US" sz="1900" b="1" dirty="0">
              <a:solidFill>
                <a:srgbClr val="151617"/>
              </a:solidFill>
              <a:latin typeface="Montserrat Black" pitchFamily="34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10329505" y="5485090"/>
            <a:ext cx="3463171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latin typeface="Inconsolata" pitchFamily="1" charset="0"/>
                <a:ea typeface="Inconsolata" pitchFamily="1" charset="0"/>
                <a:cs typeface="Overpass" pitchFamily="34" charset="-120"/>
              </a:rPr>
              <a:t>Promueve un seguimiento organizado y eficaz de todos los incidentes reportados.</a:t>
            </a:r>
            <a:endParaRPr lang="en-US" sz="1600" dirty="0">
              <a:latin typeface="Inconsolata" pitchFamily="1" charset="0"/>
              <a:ea typeface="Inconsolata" pitchFamily="1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656040"/>
            <a:ext cx="7207448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51617"/>
                </a:solidFill>
                <a:latin typeface="Montserrat Black" pitchFamily="34" charset="0"/>
              </a:rPr>
              <a:t>Tecnologías Clave de la App</a:t>
            </a:r>
          </a:p>
        </p:txBody>
      </p:sp>
      <p:sp>
        <p:nvSpPr>
          <p:cNvPr id="3" name="Text 1"/>
          <p:cNvSpPr/>
          <p:nvPr/>
        </p:nvSpPr>
        <p:spPr>
          <a:xfrm>
            <a:off x="837724" y="2795468"/>
            <a:ext cx="3077885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latin typeface="Inconsolata" pitchFamily="1" charset="0"/>
                <a:ea typeface="Inconsolata" pitchFamily="1" charset="0"/>
                <a:cs typeface="Overpass Bold" pitchFamily="34" charset="-120"/>
              </a:rPr>
              <a:t>Lenguaje de Programación</a:t>
            </a:r>
            <a:endParaRPr lang="en-US" sz="1900" dirty="0">
              <a:latin typeface="Inconsolata" pitchFamily="1" charset="0"/>
              <a:ea typeface="Inconsolata" pitchFamily="1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37724" y="3312914"/>
            <a:ext cx="3977164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latin typeface="Inconsolata" pitchFamily="1" charset="0"/>
                <a:ea typeface="Inconsolata" pitchFamily="1" charset="0"/>
                <a:cs typeface="Overpass" pitchFamily="34" charset="-120"/>
              </a:rPr>
              <a:t>Kotlin:</a:t>
            </a:r>
            <a:r>
              <a:rPr lang="en-US" sz="1600" dirty="0">
                <a:latin typeface="Inconsolata" pitchFamily="1" charset="0"/>
                <a:ea typeface="Inconsolata" pitchFamily="1" charset="0"/>
                <a:cs typeface="Overpass" pitchFamily="34" charset="-120"/>
              </a:rPr>
              <a:t> Moderno y oficial para Android, ofrece sintaxis concisa, seguridad en nulos y soporte para corrutinas.</a:t>
            </a:r>
            <a:endParaRPr lang="en-US" sz="1600" dirty="0">
              <a:latin typeface="Inconsolata" pitchFamily="1" charset="0"/>
              <a:ea typeface="Inconsolata" pitchFamily="1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37724" y="4527471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latin typeface="Inconsolata" pitchFamily="1" charset="0"/>
                <a:ea typeface="Inconsolata" pitchFamily="1" charset="0"/>
                <a:cs typeface="Overpass Bold" pitchFamily="34" charset="-120"/>
              </a:rPr>
              <a:t>Plataforma</a:t>
            </a:r>
            <a:endParaRPr lang="en-US" sz="1900" dirty="0">
              <a:latin typeface="Inconsolata" pitchFamily="1" charset="0"/>
              <a:ea typeface="Inconsolata" pitchFamily="1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37724" y="5044916"/>
            <a:ext cx="3977164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latin typeface="Inconsolata" pitchFamily="1" charset="0"/>
                <a:ea typeface="Inconsolata" pitchFamily="1" charset="0"/>
                <a:cs typeface="Overpass" pitchFamily="34" charset="-120"/>
              </a:rPr>
              <a:t>Android Studio:</a:t>
            </a:r>
            <a:r>
              <a:rPr lang="en-US" sz="1600" dirty="0">
                <a:latin typeface="Inconsolata" pitchFamily="1" charset="0"/>
                <a:ea typeface="Inconsolata" pitchFamily="1" charset="0"/>
                <a:cs typeface="Overpass" pitchFamily="34" charset="-120"/>
              </a:rPr>
              <a:t> Entorno de desarrollo integrado para la creación de la aplicación.</a:t>
            </a:r>
            <a:endParaRPr lang="en-US" sz="1600" dirty="0">
              <a:latin typeface="Inconsolata" pitchFamily="1" charset="0"/>
              <a:ea typeface="Inconsolata" pitchFamily="1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333524" y="2795468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latin typeface="Inconsolata" pitchFamily="1" charset="0"/>
                <a:ea typeface="Inconsolata" pitchFamily="1" charset="0"/>
                <a:cs typeface="Overpass Bold" pitchFamily="34" charset="-120"/>
              </a:rPr>
              <a:t>Arquitectura</a:t>
            </a:r>
            <a:endParaRPr lang="en-US" sz="1900" dirty="0">
              <a:latin typeface="Inconsolata" pitchFamily="1" charset="0"/>
              <a:ea typeface="Inconsolata" pitchFamily="1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333524" y="3312914"/>
            <a:ext cx="3977164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latin typeface="Inconsolata" pitchFamily="1" charset="0"/>
                <a:ea typeface="Inconsolata" pitchFamily="1" charset="0"/>
                <a:cs typeface="Overpass" pitchFamily="34" charset="-120"/>
              </a:rPr>
              <a:t>MVVM:</a:t>
            </a:r>
            <a:r>
              <a:rPr lang="en-US" sz="1600" dirty="0">
                <a:latin typeface="Inconsolata" pitchFamily="1" charset="0"/>
                <a:ea typeface="Inconsolata" pitchFamily="1" charset="0"/>
                <a:cs typeface="Overpass" pitchFamily="34" charset="-120"/>
              </a:rPr>
              <a:t> Separa la lógica de negocio de la interfaz, facilitando pruebas, mantenibilidad y escalabilidad.</a:t>
            </a:r>
            <a:endParaRPr lang="en-US" sz="1600" dirty="0">
              <a:latin typeface="Inconsolata" pitchFamily="1" charset="0"/>
              <a:ea typeface="Inconsolata" pitchFamily="1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333524" y="4527471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latin typeface="Inconsolata" pitchFamily="1" charset="0"/>
                <a:ea typeface="Inconsolata" pitchFamily="1" charset="0"/>
                <a:cs typeface="Overpass Bold" pitchFamily="34" charset="-120"/>
              </a:rPr>
              <a:t>Base de Datos</a:t>
            </a:r>
            <a:endParaRPr lang="en-US" sz="1900" dirty="0">
              <a:latin typeface="Inconsolata" pitchFamily="1" charset="0"/>
              <a:ea typeface="Inconsolata" pitchFamily="1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333524" y="5044916"/>
            <a:ext cx="3977164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latin typeface="Inconsolata" pitchFamily="1" charset="0"/>
                <a:ea typeface="Inconsolata" pitchFamily="1" charset="0"/>
                <a:cs typeface="Overpass" pitchFamily="34" charset="-120"/>
              </a:rPr>
              <a:t>Firebase Realtime Database:</a:t>
            </a:r>
            <a:r>
              <a:rPr lang="en-US" sz="1600" dirty="0">
                <a:latin typeface="Inconsolata" pitchFamily="1" charset="0"/>
                <a:ea typeface="Inconsolata" pitchFamily="1" charset="0"/>
                <a:cs typeface="Overpass" pitchFamily="34" charset="-120"/>
              </a:rPr>
              <a:t> Almacenamiento NoSQL en tiempo real, ideal para sincronización de datos.</a:t>
            </a:r>
            <a:endParaRPr lang="en-US" sz="1600" dirty="0">
              <a:latin typeface="Inconsolata" pitchFamily="1" charset="0"/>
              <a:ea typeface="Inconsolata" pitchFamily="1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829324" y="2795468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latin typeface="Inconsolata" pitchFamily="1" charset="0"/>
                <a:ea typeface="Inconsolata" pitchFamily="1" charset="0"/>
                <a:cs typeface="Overpass Bold" pitchFamily="34" charset="-120"/>
              </a:rPr>
              <a:t>Autenticación</a:t>
            </a:r>
            <a:endParaRPr lang="en-US" sz="1900" dirty="0">
              <a:latin typeface="Inconsolata" pitchFamily="1" charset="0"/>
              <a:ea typeface="Inconsolata" pitchFamily="1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829324" y="3312914"/>
            <a:ext cx="3977164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latin typeface="Inconsolata" pitchFamily="1" charset="0"/>
                <a:ea typeface="Inconsolata" pitchFamily="1" charset="0"/>
                <a:cs typeface="Overpass" pitchFamily="34" charset="-120"/>
              </a:rPr>
              <a:t>Firebase Authentication:</a:t>
            </a:r>
            <a:r>
              <a:rPr lang="en-US" sz="1600" dirty="0">
                <a:latin typeface="Inconsolata" pitchFamily="1" charset="0"/>
                <a:ea typeface="Inconsolata" pitchFamily="1" charset="0"/>
                <a:cs typeface="Overpass" pitchFamily="34" charset="-120"/>
              </a:rPr>
              <a:t> Proporciona autenticación segura mediante correo electrónico y contraseña.</a:t>
            </a:r>
            <a:endParaRPr lang="en-US" sz="1600" dirty="0">
              <a:latin typeface="Inconsolata" pitchFamily="1" charset="0"/>
              <a:ea typeface="Inconsolata" pitchFamily="1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7577" y="432553"/>
            <a:ext cx="7377433" cy="1150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900" b="1" dirty="0">
                <a:solidFill>
                  <a:srgbClr val="151617"/>
                </a:solidFill>
                <a:latin typeface="Montserrat Black" pitchFamily="34" charset="0"/>
              </a:rPr>
              <a:t>Estructura del Proyecto App</a:t>
            </a: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78" y="1207770"/>
            <a:ext cx="784384" cy="9413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68768" y="1364575"/>
            <a:ext cx="3098006" cy="230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latin typeface="Inconsolata" pitchFamily="1" charset="0"/>
                <a:ea typeface="Inconsolata" pitchFamily="1" charset="0"/>
                <a:cs typeface="Overpass Bold" pitchFamily="34" charset="-120"/>
              </a:rPr>
              <a:t>app/src/main/java/com/safetrack/</a:t>
            </a:r>
            <a:endParaRPr lang="en-US" sz="1450" dirty="0">
              <a:latin typeface="Inconsolata" pitchFamily="1" charset="0"/>
              <a:ea typeface="Inconsolata" pitchFamily="1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568768" y="1689259"/>
            <a:ext cx="12434054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latin typeface="Inconsolata" pitchFamily="1" charset="0"/>
                <a:ea typeface="Inconsolata" pitchFamily="1" charset="0"/>
                <a:cs typeface="Overpass" pitchFamily="34" charset="-120"/>
              </a:rPr>
              <a:t>Contiene la lógica principal de la aplicación.</a:t>
            </a:r>
            <a:endParaRPr lang="en-US" sz="1200" dirty="0">
              <a:latin typeface="Inconsolata" pitchFamily="1" charset="0"/>
              <a:ea typeface="Inconsolata" pitchFamily="1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578" y="2149078"/>
            <a:ext cx="784384" cy="9413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68768" y="2305883"/>
            <a:ext cx="1845826" cy="230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latin typeface="Inconsolata" pitchFamily="1" charset="0"/>
                <a:ea typeface="Inconsolata" pitchFamily="1" charset="0"/>
                <a:cs typeface="Overpass Bold" pitchFamily="34" charset="-120"/>
              </a:rPr>
              <a:t>model/</a:t>
            </a:r>
            <a:endParaRPr lang="en-US" sz="1450" dirty="0">
              <a:latin typeface="Inconsolata" pitchFamily="1" charset="0"/>
              <a:ea typeface="Inconsolata" pitchFamily="1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1568768" y="2630567"/>
            <a:ext cx="12434054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latin typeface="Inconsolata" pitchFamily="1" charset="0"/>
                <a:ea typeface="Inconsolata" pitchFamily="1" charset="0"/>
                <a:cs typeface="Overpass" pitchFamily="34" charset="-120"/>
              </a:rPr>
              <a:t>Define los modelos de datos de la aplicación.</a:t>
            </a:r>
            <a:endParaRPr lang="en-US" sz="1200" dirty="0">
              <a:latin typeface="Inconsolata" pitchFamily="1" charset="0"/>
              <a:ea typeface="Inconsolata" pitchFamily="1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578" y="3090386"/>
            <a:ext cx="784384" cy="9413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68768" y="3247192"/>
            <a:ext cx="1845826" cy="230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latin typeface="Inconsolata" pitchFamily="1" charset="0"/>
                <a:ea typeface="Inconsolata" pitchFamily="1" charset="0"/>
                <a:cs typeface="Overpass Bold" pitchFamily="34" charset="-120"/>
              </a:rPr>
              <a:t>view/</a:t>
            </a:r>
            <a:endParaRPr lang="en-US" sz="1450" dirty="0">
              <a:latin typeface="Inconsolata" pitchFamily="1" charset="0"/>
              <a:ea typeface="Inconsolata" pitchFamily="1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1568768" y="3571875"/>
            <a:ext cx="12434054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latin typeface="Inconsolata" pitchFamily="1" charset="0"/>
                <a:ea typeface="Inconsolata" pitchFamily="1" charset="0"/>
                <a:cs typeface="Overpass" pitchFamily="34" charset="-120"/>
              </a:rPr>
              <a:t>Incluye los Fragments y Activities de la interfaz de usuario.</a:t>
            </a:r>
            <a:endParaRPr lang="en-US" sz="1200" dirty="0">
              <a:latin typeface="Inconsolata" pitchFamily="1" charset="0"/>
              <a:ea typeface="Inconsolata" pitchFamily="1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578" y="4031694"/>
            <a:ext cx="784384" cy="9413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568768" y="4188500"/>
            <a:ext cx="1845826" cy="230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latin typeface="Inconsolata" pitchFamily="1" charset="0"/>
                <a:ea typeface="Inconsolata" pitchFamily="1" charset="0"/>
                <a:cs typeface="Overpass Bold" pitchFamily="34" charset="-120"/>
              </a:rPr>
              <a:t>viewmodel/</a:t>
            </a:r>
            <a:endParaRPr lang="en-US" sz="1450" dirty="0">
              <a:latin typeface="Inconsolata" pitchFamily="1" charset="0"/>
              <a:ea typeface="Inconsolata" pitchFamily="1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1568768" y="4513183"/>
            <a:ext cx="12434054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latin typeface="Inconsolata" pitchFamily="1" charset="0"/>
                <a:ea typeface="Inconsolata" pitchFamily="1" charset="0"/>
                <a:cs typeface="Overpass" pitchFamily="34" charset="-120"/>
              </a:rPr>
              <a:t>Gestiona la lógica de presentación y los datos para las vistas.</a:t>
            </a:r>
            <a:endParaRPr lang="en-US" sz="1200" dirty="0">
              <a:latin typeface="Inconsolata" pitchFamily="1" charset="0"/>
              <a:ea typeface="Inconsolata" pitchFamily="1" charset="0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578" y="4973003"/>
            <a:ext cx="784384" cy="94130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568768" y="5129808"/>
            <a:ext cx="1845826" cy="230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latin typeface="Inconsolata" pitchFamily="1" charset="0"/>
                <a:ea typeface="Inconsolata" pitchFamily="1" charset="0"/>
                <a:cs typeface="Overpass Bold" pitchFamily="34" charset="-120"/>
              </a:rPr>
              <a:t>firebase/</a:t>
            </a:r>
            <a:endParaRPr lang="en-US" sz="1450" dirty="0">
              <a:latin typeface="Inconsolata" pitchFamily="1" charset="0"/>
              <a:ea typeface="Inconsolata" pitchFamily="1" charset="0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1568768" y="5454491"/>
            <a:ext cx="12434054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latin typeface="Inconsolata" pitchFamily="1" charset="0"/>
                <a:ea typeface="Inconsolata" pitchFamily="1" charset="0"/>
                <a:cs typeface="Overpass" pitchFamily="34" charset="-120"/>
              </a:rPr>
              <a:t>Maneja el acceso y la interacción con los servicios de Firebase.</a:t>
            </a:r>
            <a:endParaRPr lang="en-US" sz="1200" dirty="0">
              <a:latin typeface="Inconsolata" pitchFamily="1" charset="0"/>
              <a:ea typeface="Inconsolata" pitchFamily="1" charset="0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578" y="5914311"/>
            <a:ext cx="784384" cy="94130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568768" y="6071116"/>
            <a:ext cx="1845826" cy="230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latin typeface="Inconsolata" pitchFamily="1" charset="0"/>
                <a:ea typeface="Inconsolata" pitchFamily="1" charset="0"/>
                <a:cs typeface="Overpass Bold" pitchFamily="34" charset="-120"/>
              </a:rPr>
              <a:t>res/layout/</a:t>
            </a:r>
            <a:endParaRPr lang="en-US" sz="1450" dirty="0">
              <a:latin typeface="Inconsolata" pitchFamily="1" charset="0"/>
              <a:ea typeface="Inconsolata" pitchFamily="1" charset="0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1568768" y="6395799"/>
            <a:ext cx="12434054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latin typeface="Inconsolata" pitchFamily="1" charset="0"/>
                <a:ea typeface="Inconsolata" pitchFamily="1" charset="0"/>
                <a:cs typeface="Overpass" pitchFamily="34" charset="-120"/>
              </a:rPr>
              <a:t>Archivos XML para el diseño de la interfaz de usuario.</a:t>
            </a:r>
            <a:endParaRPr lang="en-US" sz="1200" dirty="0">
              <a:latin typeface="Inconsolata" pitchFamily="1" charset="0"/>
              <a:ea typeface="Inconsolata" pitchFamily="1" charset="0"/>
            </a:endParaRPr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578" y="6855619"/>
            <a:ext cx="784384" cy="94130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568768" y="7012424"/>
            <a:ext cx="1845826" cy="230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latin typeface="Inconsolata" pitchFamily="1" charset="0"/>
                <a:ea typeface="Inconsolata" pitchFamily="1" charset="0"/>
                <a:cs typeface="Overpass Bold" pitchFamily="34" charset="-120"/>
              </a:rPr>
              <a:t>res/values/</a:t>
            </a:r>
            <a:endParaRPr lang="en-US" sz="1450" dirty="0">
              <a:latin typeface="Inconsolata" pitchFamily="1" charset="0"/>
              <a:ea typeface="Inconsolata" pitchFamily="1" charset="0"/>
            </a:endParaRPr>
          </a:p>
        </p:txBody>
      </p:sp>
      <p:sp>
        <p:nvSpPr>
          <p:cNvPr id="23" name="Text 14"/>
          <p:cNvSpPr/>
          <p:nvPr/>
        </p:nvSpPr>
        <p:spPr>
          <a:xfrm>
            <a:off x="1568768" y="7337108"/>
            <a:ext cx="12434054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latin typeface="Inconsolata" pitchFamily="1" charset="0"/>
                <a:ea typeface="Inconsolata" pitchFamily="1" charset="0"/>
                <a:cs typeface="Overpass" pitchFamily="34" charset="-120"/>
              </a:rPr>
              <a:t>Define colores, cadenas de texto y estilos de la aplicación.</a:t>
            </a:r>
            <a:endParaRPr lang="en-US" sz="1200" dirty="0">
              <a:latin typeface="Inconsolata" pitchFamily="1" charset="0"/>
              <a:ea typeface="Inconsolata" pitchFamily="1" charset="0"/>
            </a:endParaRPr>
          </a:p>
        </p:txBody>
      </p:sp>
      <p:pic>
        <p:nvPicPr>
          <p:cNvPr id="25" name="Imagen 24" descr="Imagen que contiene interior, tabla, computadora, escritorio&#10;&#10;El contenido generado por IA puede ser incorrecto.">
            <a:extLst>
              <a:ext uri="{FF2B5EF4-FFF2-40B4-BE49-F238E27FC236}">
                <a16:creationId xmlns:a16="http://schemas.microsoft.com/office/drawing/2014/main" id="{C969702A-2555-74E9-67EF-834590270FE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98856" y="0"/>
            <a:ext cx="462915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36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06419" y="686513"/>
            <a:ext cx="7183993" cy="1279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>
                <a:latin typeface="Montserrat Black" panose="00000A00000000000000" pitchFamily="2" charset="0"/>
                <a:ea typeface="Overpass Bold" pitchFamily="34" charset="-122"/>
                <a:cs typeface="Overpass Bold" pitchFamily="34" charset="-120"/>
              </a:rPr>
              <a:t>Funcionalidades Principales</a:t>
            </a:r>
            <a:endParaRPr lang="en-US" sz="3600" dirty="0">
              <a:latin typeface="Montserrat Black" panose="00000A00000000000000" pitchFamily="2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264354" y="1886664"/>
            <a:ext cx="7588091" cy="1429226"/>
          </a:xfrm>
          <a:prstGeom prst="roundRect">
            <a:avLst>
              <a:gd name="adj" fmla="val 5716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/>
          <p:nvPr/>
        </p:nvSpPr>
        <p:spPr>
          <a:xfrm>
            <a:off x="6446726" y="2168012"/>
            <a:ext cx="2701290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Autenticación de Usuario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46726" y="2570682"/>
            <a:ext cx="7183993" cy="622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Registro y login seguro con Firebase Authentication, incluyendo control de sesiones.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264353" y="3826457"/>
            <a:ext cx="7588091" cy="1429226"/>
          </a:xfrm>
          <a:prstGeom prst="roundRect">
            <a:avLst>
              <a:gd name="adj" fmla="val 5716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6466403" y="3963472"/>
            <a:ext cx="2337078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Reporte de Incidentes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66403" y="4366141"/>
            <a:ext cx="7183993" cy="622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Formulario completo para registrar incidentes con descripción, nivel de </a:t>
            </a:r>
            <a:r>
              <a:rPr lang="en-US" sz="1500" dirty="0" err="1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riesgo</a:t>
            </a:r>
            <a:r>
              <a:rPr lang="en-US" sz="15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64354" y="5828260"/>
            <a:ext cx="7588091" cy="1429226"/>
          </a:xfrm>
          <a:prstGeom prst="roundRect">
            <a:avLst>
              <a:gd name="adj" fmla="val 5716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6466403" y="6030309"/>
            <a:ext cx="2768203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Visualización de Reportes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466403" y="6432978"/>
            <a:ext cx="7183993" cy="622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50"/>
              </a:lnSpc>
            </a:pPr>
            <a:r>
              <a:rPr lang="es-MX" sz="1600" dirty="0">
                <a:solidFill>
                  <a:schemeClr val="bg1"/>
                </a:solidFill>
                <a:latin typeface="Inconsolata" pitchFamily="1" charset="0"/>
                <a:ea typeface="Inconsolata" pitchFamily="1" charset="0"/>
              </a:rPr>
              <a:t>Visualización de reportes históricos almacenados en tu perfil</a:t>
            </a:r>
            <a:endParaRPr lang="en-US" sz="1500" dirty="0">
              <a:solidFill>
                <a:schemeClr val="bg1"/>
              </a:solidFill>
              <a:latin typeface="Inconsolata" pitchFamily="1" charset="0"/>
              <a:ea typeface="Inconsolata" pitchFamily="1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711404"/>
            <a:ext cx="7658814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b="1" dirty="0">
                <a:latin typeface="Montserrat Black" panose="00000A00000000000000" pitchFamily="2" charset="0"/>
                <a:ea typeface="Overpass Bold" pitchFamily="34" charset="-122"/>
                <a:cs typeface="Overpass Bold" pitchFamily="34" charset="-120"/>
              </a:rPr>
              <a:t>Impacto Profesional de SafeTrack</a:t>
            </a:r>
            <a:endParaRPr lang="en-US" sz="3850" dirty="0">
              <a:latin typeface="Montserrat Black" panose="00000A00000000000000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37724" y="2746177"/>
            <a:ext cx="2159079" cy="1187529"/>
          </a:xfrm>
          <a:prstGeom prst="roundRect">
            <a:avLst>
              <a:gd name="adj" fmla="val 7408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983" y="3155871"/>
            <a:ext cx="294442" cy="3681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6234" y="2955608"/>
            <a:ext cx="2883337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latin typeface="Inconsolata" pitchFamily="1" charset="0"/>
                <a:ea typeface="Inconsolata" pitchFamily="1" charset="0"/>
                <a:cs typeface="Overpass Bold" pitchFamily="34" charset="-120"/>
              </a:rPr>
              <a:t>Implementación Práctica</a:t>
            </a:r>
            <a:endParaRPr lang="en-US" sz="1900" dirty="0">
              <a:latin typeface="Inconsolata" pitchFamily="1" charset="0"/>
              <a:ea typeface="Inconsolata" pitchFamily="1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3206234" y="3389233"/>
            <a:ext cx="6327100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latin typeface="Inconsolata" pitchFamily="1" charset="0"/>
                <a:ea typeface="Inconsolata" pitchFamily="1" charset="0"/>
                <a:cs typeface="Overpass" pitchFamily="34" charset="-120"/>
              </a:rPr>
              <a:t>Aplicación real del desarrollo de software en seguridad ocupacional.</a:t>
            </a:r>
            <a:endParaRPr lang="en-US" sz="1600" dirty="0">
              <a:latin typeface="Inconsolata" pitchFamily="1" charset="0"/>
              <a:ea typeface="Inconsolata" pitchFamily="1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3101459" y="3924181"/>
            <a:ext cx="10586561" cy="11430"/>
          </a:xfrm>
          <a:prstGeom prst="roundRect">
            <a:avLst>
              <a:gd name="adj" fmla="val 769663"/>
            </a:avLst>
          </a:prstGeom>
          <a:solidFill>
            <a:srgbClr val="971B55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Shape 5"/>
          <p:cNvSpPr/>
          <p:nvPr/>
        </p:nvSpPr>
        <p:spPr>
          <a:xfrm>
            <a:off x="837724" y="4038362"/>
            <a:ext cx="4318278" cy="1187529"/>
          </a:xfrm>
          <a:prstGeom prst="roundRect">
            <a:avLst>
              <a:gd name="adj" fmla="val 7408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9642" y="4448056"/>
            <a:ext cx="294442" cy="36814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65433" y="4247793"/>
            <a:ext cx="2556986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latin typeface="Inconsolata" pitchFamily="1" charset="0"/>
                <a:ea typeface="Inconsolata" pitchFamily="1" charset="0"/>
                <a:cs typeface="Overpass Bold" pitchFamily="34" charset="-120"/>
              </a:rPr>
              <a:t>Tecnologías Modernas</a:t>
            </a:r>
            <a:endParaRPr lang="en-US" sz="1900" dirty="0">
              <a:latin typeface="Inconsolata" pitchFamily="1" charset="0"/>
              <a:ea typeface="Inconsolata" pitchFamily="1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365433" y="4681418"/>
            <a:ext cx="4909661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latin typeface="Inconsolata" pitchFamily="1" charset="0"/>
                <a:ea typeface="Inconsolata" pitchFamily="1" charset="0"/>
                <a:cs typeface="Overpass" pitchFamily="34" charset="-120"/>
              </a:rPr>
              <a:t>Integración de Kotlin, Firebase y arquitectura MVVM.</a:t>
            </a:r>
            <a:endParaRPr lang="en-US" sz="1600" dirty="0">
              <a:latin typeface="Inconsolata" pitchFamily="1" charset="0"/>
              <a:ea typeface="Inconsolata" pitchFamily="1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5260658" y="5216366"/>
            <a:ext cx="8427363" cy="11430"/>
          </a:xfrm>
          <a:prstGeom prst="roundRect">
            <a:avLst>
              <a:gd name="adj" fmla="val 769663"/>
            </a:avLst>
          </a:prstGeom>
          <a:solidFill>
            <a:srgbClr val="971B55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Shape 9"/>
          <p:cNvSpPr/>
          <p:nvPr/>
        </p:nvSpPr>
        <p:spPr>
          <a:xfrm>
            <a:off x="837724" y="5330547"/>
            <a:ext cx="6477476" cy="1187529"/>
          </a:xfrm>
          <a:prstGeom prst="roundRect">
            <a:avLst>
              <a:gd name="adj" fmla="val 7408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9182" y="5740241"/>
            <a:ext cx="294442" cy="36814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24631" y="5539978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latin typeface="Inconsolata" pitchFamily="1" charset="0"/>
                <a:ea typeface="Inconsolata" pitchFamily="1" charset="0"/>
                <a:cs typeface="Overpass Bold" pitchFamily="34" charset="-120"/>
              </a:rPr>
              <a:t>Buenas Prácticas</a:t>
            </a:r>
            <a:endParaRPr lang="en-US" sz="1900" dirty="0">
              <a:latin typeface="Inconsolata" pitchFamily="1" charset="0"/>
              <a:ea typeface="Inconsolata" pitchFamily="1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7524631" y="5973604"/>
            <a:ext cx="473380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latin typeface="Inconsolata" pitchFamily="1" charset="0"/>
                <a:ea typeface="Inconsolata" pitchFamily="1" charset="0"/>
                <a:cs typeface="Overpass" pitchFamily="34" charset="-120"/>
              </a:rPr>
              <a:t>Alineación con estándares robustos de la industria.</a:t>
            </a:r>
            <a:endParaRPr lang="en-US" sz="1600" dirty="0">
              <a:latin typeface="Inconsolata" pitchFamily="1" charset="0"/>
              <a:ea typeface="Inconsolata" pitchFamily="1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3F8C9-DE1A-876D-24DE-9C3FDCBA3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429ADBE-F6F5-9CE8-0B79-2AF9DBC73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1667" y="880611"/>
            <a:ext cx="8707065" cy="646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086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1180</Words>
  <Application>Microsoft Office PowerPoint</Application>
  <PresentationFormat>Personalizado</PresentationFormat>
  <Paragraphs>146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4" baseType="lpstr">
      <vt:lpstr>IBM Plex Sans</vt:lpstr>
      <vt:lpstr>Overpass Bold</vt:lpstr>
      <vt:lpstr>Arial</vt:lpstr>
      <vt:lpstr>Montserrat Black</vt:lpstr>
      <vt:lpstr>Inconsolata</vt:lpstr>
      <vt:lpstr>Overpass</vt:lpstr>
      <vt:lpstr>Aldhabi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CATALINA . CONTRERAS TAPIA</cp:lastModifiedBy>
  <cp:revision>5</cp:revision>
  <dcterms:created xsi:type="dcterms:W3CDTF">2025-06-14T01:10:29Z</dcterms:created>
  <dcterms:modified xsi:type="dcterms:W3CDTF">2025-07-10T03:28:09Z</dcterms:modified>
</cp:coreProperties>
</file>